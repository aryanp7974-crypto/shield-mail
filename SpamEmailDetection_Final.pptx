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2" r:id="rId10"/>
    <p:sldId id="264" r:id="rId11"/>
    <p:sldId id="265" r:id="rId12"/>
    <p:sldId id="266" r:id="rId13"/>
    <p:sldId id="267" r:id="rId14"/>
    <p:sldId id="262" r:id="rId15"/>
    <p:sldId id="263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notesSlide" Target="../notesSlides/notesSlide7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548640"/>
            <a:ext cx="1371600" cy="1371600"/>
          </a:xfrm>
          <a:prstGeom prst="roundRect">
            <a:avLst>
              <a:gd name="adj" fmla="val 20000"/>
            </a:avLst>
          </a:prstGeom>
          <a:solidFill>
            <a:srgbClr val="00C896">
              <a:alpha val="80000"/>
            </a:srgbClr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594360"/>
            <a:ext cx="1371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Spam Email Detection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Automation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 Project | B.Tech CSE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n8n  •  Groq LLaMA 3.3  •  Gmail API  •  Google Sheets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📌 What is Spam Email?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 emails are unsolicited, bulk messages sent to a large number of recipients — often for advertising, phishing, malware distribution, or fraud. They clog inboxes, waste time, and pose serious security threats to individuals and organizations.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24028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About This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87752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minor project builds a fully automated spam email detection system using n8n workflow automation, Groq's LLaMA 3.3 70B AI model, and Gmail API — detecting, labeling, logging, and alerting on spam emails in real time without any manual intervention.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92024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40156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514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3.4B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 emails/day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337560"/>
            <a:ext cx="192024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40156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60320" y="400507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email is spam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337560"/>
            <a:ext cx="192024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40156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FB95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98%+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400507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confidence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3337560"/>
            <a:ext cx="1920240" cy="1188720"/>
          </a:xfrm>
          <a:prstGeom prst="rect">
            <a:avLst/>
          </a:prstGeom>
          <a:solidFill>
            <a:srgbClr val="161B22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401568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60s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66560" y="4005072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interval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514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3.4B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 emails sent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worldwide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B42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email traffic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spam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514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$20.5B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losses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fraud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spam filtering is time-consuming and error-prone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filters miss sophisticated phishing &amp; social engineering emails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automated logging or audit trail for detected threats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real-time alerts when dangerous emails arrive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ShieldMail is a fully automated AI-powered email protection system that monitors your Gmail inbox in real-time, classifies every incoming email using Large Language Models, and takes immediate action on detected threats.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5740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Classification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46888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LLaMA 3.3 70B classifies every email with confidence scoring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2011680"/>
            <a:ext cx="39319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05740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15000" y="210312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Processing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0" y="246888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Polls Gmail every minute — detects threats as they arrive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42900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detection logged to Google Sheets with full metadata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383280"/>
            <a:ext cx="39319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42900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3840480"/>
            <a:ext cx="2926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notifications sent immediately when spam is detected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64592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31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n8n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4447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Automation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18872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Self-hosted automation platform managing all nodes and workflow logic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16459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731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0574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+ LLaMA 3.3 70B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3591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Classification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10312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Ultra-fast LLM inference for spam detection with confidence scoring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164592" cy="80467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26080"/>
            <a:ext cx="731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2971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2735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Trigger &amp; Actions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01752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OAuth2-authenticated Gmail integration for reading, labeling emails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164592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40480"/>
            <a:ext cx="7315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3886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18795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931920"/>
            <a:ext cx="42062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logging of all detected spam with full metadata trail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0"/>
            <a:ext cx="13716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Inbox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2148840"/>
            <a:ext cx="4572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645920"/>
            <a:ext cx="13716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4572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645920"/>
            <a:ext cx="13716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4572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645920"/>
            <a:ext cx="13716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2148840"/>
            <a:ext cx="4572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645920"/>
            <a:ext cx="13716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69164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214884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9260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→ SPAM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2743200"/>
            <a:ext cx="36576" cy="228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200400"/>
            <a:ext cx="777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3218688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3611880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SPAM Label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69480" y="3200400"/>
            <a:ext cx="777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9480" y="3218688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69480" y="3611880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to Sheet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138160" y="3200400"/>
            <a:ext cx="7772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38160" y="3218688"/>
            <a:ext cx="777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38160" y="3611880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Alert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492240" y="2926080"/>
            <a:ext cx="36576" cy="1188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92608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→ CLEAN (No Action)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(24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9144000" cy="51447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n8n Workflow Nodes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097280"/>
            <a:ext cx="411480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1097280"/>
            <a:ext cx="548640" cy="105156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1097280"/>
            <a:ext cx="5486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097280" y="118872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Trigger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097280" y="1508760"/>
            <a:ext cx="3383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Polls inbox every 60 seconds for new emails via OAuth2</a:t>
            </a:r>
            <a:endParaRPr lang="en-US" sz="10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846320" y="1097280"/>
            <a:ext cx="411480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846320" y="1097280"/>
            <a:ext cx="548640" cy="10515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846320" y="1097280"/>
            <a:ext cx="5486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486400" y="118872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Email Fields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5486400" y="1508760"/>
            <a:ext cx="3383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node parses subject, body, sender, messageId from raw Gmail data</a:t>
            </a:r>
            <a:endParaRPr lang="en-US" sz="10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457200" y="2286000"/>
            <a:ext cx="548640" cy="1051560"/>
          </a:xfrm>
          <a:prstGeom prst="rect">
            <a:avLst/>
          </a:prstGeom>
          <a:solidFill>
            <a:srgbClr val="F0B429">
              <a:alpha val="80000"/>
            </a:srgbClr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457200" y="2286000"/>
            <a:ext cx="5486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097280" y="237744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Email (Groq)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097280" y="2697480"/>
            <a:ext cx="3383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POST to Groq API with LLaMA 3.3 70B — returns SPAM/CLEAN + confidence</a:t>
            </a:r>
            <a:endParaRPr lang="en-US" sz="10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4846320" y="2286000"/>
            <a:ext cx="411480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846320" y="2286000"/>
            <a:ext cx="548640" cy="105156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4846320" y="2286000"/>
            <a:ext cx="5486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5486400" y="237744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Groq Response</a:t>
            </a:r>
            <a:endParaRPr lang="en-US" sz="12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5486400" y="2697480"/>
            <a:ext cx="3383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node extracts classification JSON from choices[0].message.content</a:t>
            </a:r>
            <a:endParaRPr lang="en-US" sz="10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457200" y="3474720"/>
            <a:ext cx="411480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457200" y="3474720"/>
            <a:ext cx="548640" cy="1051560"/>
          </a:xfrm>
          <a:prstGeom prst="rect">
            <a:avLst/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457200" y="3474720"/>
            <a:ext cx="5486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1097280" y="356616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Spam? (IF Node)</a:t>
            </a:r>
            <a:endParaRPr lang="en-US" sz="12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1097280" y="3886200"/>
            <a:ext cx="3383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workflow: classification == 'SPAM' → true branch, else → false branch</a:t>
            </a:r>
            <a:endParaRPr lang="en-US" sz="1000" dirty="0"/>
          </a:p>
        </p:txBody>
      </p:sp>
      <p:sp>
        <p:nvSpPr>
          <p:cNvPr id="29" name="Shape 27"/>
          <p:cNvSpPr/>
          <p:nvPr>
            <p:custDataLst>
              <p:tags r:id="rId26"/>
            </p:custDataLst>
          </p:nvPr>
        </p:nvSpPr>
        <p:spPr>
          <a:xfrm>
            <a:off x="4846320" y="3474720"/>
            <a:ext cx="411480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>
            <p:custDataLst>
              <p:tags r:id="rId27"/>
            </p:custDataLst>
          </p:nvPr>
        </p:nvSpPr>
        <p:spPr>
          <a:xfrm>
            <a:off x="4846320" y="3474720"/>
            <a:ext cx="548640" cy="1051560"/>
          </a:xfrm>
          <a:prstGeom prst="rect">
            <a:avLst/>
          </a:prstGeom>
          <a:solidFill>
            <a:srgbClr val="3FB950">
              <a:alpha val="8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4846320" y="3474720"/>
            <a:ext cx="5486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>
            <p:custDataLst>
              <p:tags r:id="rId29"/>
            </p:custDataLst>
          </p:nvPr>
        </p:nvSpPr>
        <p:spPr>
          <a:xfrm>
            <a:off x="5486400" y="356616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+ Log + Alert</a:t>
            </a:r>
            <a:endParaRPr lang="en-US" sz="1200" dirty="0"/>
          </a:p>
        </p:txBody>
      </p:sp>
      <p:sp>
        <p:nvSpPr>
          <p:cNvPr id="33" name="Text 31"/>
          <p:cNvSpPr/>
          <p:nvPr>
            <p:custDataLst>
              <p:tags r:id="rId30"/>
            </p:custDataLst>
          </p:nvPr>
        </p:nvSpPr>
        <p:spPr>
          <a:xfrm>
            <a:off x="5486400" y="3886200"/>
            <a:ext cx="3383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Gmail label, appends to Google Sheet, sends notification email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 Classification Engine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8404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Model Used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Groq API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LLaMA 3.3 70B Versatile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657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Sub-100ms inference speed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Free tier available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Superior reasoning vs GPT-3.5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JSON-structured 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11480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📤 Output Format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3931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"classification": "SPAM",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"confidence": 95,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"reason": "Generic greeting,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urgent timeframe, suspicious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link to verify account"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Detection Results: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URGENT: You won $1,000,000!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666744"/>
            <a:ext cx="914400" cy="237744"/>
          </a:xfrm>
          <a:prstGeom prst="rect">
            <a:avLst/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666744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361188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Roadmap Update — 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078224"/>
            <a:ext cx="914400" cy="237744"/>
          </a:xfrm>
          <a:prstGeom prst="rect">
            <a:avLst/>
          </a:prstGeom>
          <a:solidFill>
            <a:srgbClr val="3FB950">
              <a:alpha val="8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078224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0" y="402336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3484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Congratulations! Claim reward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489704"/>
            <a:ext cx="914400" cy="237744"/>
          </a:xfrm>
          <a:prstGeom prst="rect">
            <a:avLst/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489704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443484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Implementation Journey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Google Cloud 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3337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ShieldMail project, enabled Gmail + Sheets APIs, configured OAuth 2.0 credentials with redirect URI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457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18872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n8n Workflow Import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508760"/>
            <a:ext cx="3337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Imported pre-built workflow JSON into localhost:5678 with all 7 nodes pre-configured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331720"/>
            <a:ext cx="457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Groq API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43200"/>
            <a:ext cx="3337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Configured HTTP Request node with Bearer auth header and LLaMA 3.3 70B model endpoint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31720"/>
            <a:ext cx="457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24231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Gmail OAuth Connection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3337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Authenticated Gmail account for inbox polling and automated email labeling/sending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566160"/>
            <a:ext cx="457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6576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Google Sheets Logging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977640"/>
            <a:ext cx="3337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audit log sheet with 6 columns: Timestamp, Sender, Subject, Classification, Confidence, Reason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56616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566160"/>
            <a:ext cx="457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36576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Live Testing &amp; Activation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977640"/>
            <a:ext cx="3337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with real spam emails — confirmed SPAM detection, labeling, logging, and alert flow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Live Demo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95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98.4%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AI Confidence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&lt;1s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Speed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8872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Detection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8872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42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60s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Polling Interval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Sample Audit Log (Google Sheets):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" y="2971800"/>
          <a:ext cx="8229600" cy="17373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Sender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Class.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Conf.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2026-05-14 09:23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promo@deals.com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URGENT: Claim your prize NOW!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SPAM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Urgent language + suspicious link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2026-05-14 09:31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gaurav@gmail.com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Hi Aryan, I spent 13 yrs at Google...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SPAM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Generic greeting, unsolicited pitch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2026-05-14 09:45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prof@college.edu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Assignment submission deadline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CLEAN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99%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EDF3"/>
                          </a:solidFill>
                        </a:rPr>
                        <a:t>Legitimate academic correspondence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645920"/>
            <a:ext cx="1097280" cy="109728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69164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3200400"/>
            <a:ext cx="1097280" cy="109728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246120"/>
            <a:ext cx="1097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" y="388620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n8n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1005840"/>
            <a:ext cx="7132320" cy="3840480"/>
          </a:xfrm>
          <a:prstGeom prst="rect">
            <a:avLst/>
          </a:prstGeom>
          <a:solidFill>
            <a:srgbClr val="0D1F2D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005840"/>
            <a:ext cx="7132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 Email Detection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417320"/>
            <a:ext cx="29260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41732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Gmail Account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80160" y="1609344"/>
            <a:ext cx="54864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1920240"/>
            <a:ext cx="29260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92024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Spam Folder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80160" y="2112264"/>
            <a:ext cx="54864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2423160"/>
            <a:ext cx="29260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42316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Google Sheet URL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80160" y="2615184"/>
            <a:ext cx="54864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2926080"/>
            <a:ext cx="29260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92608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Activate / Deactivate Workflow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3118104"/>
            <a:ext cx="54864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3429000"/>
            <a:ext cx="29260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42900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Spam Audit Log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80160" y="3621024"/>
            <a:ext cx="54864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417320"/>
            <a:ext cx="33832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41732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Poll Gmail Inbox (60s)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80160" y="1609344"/>
            <a:ext cx="54864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920240"/>
            <a:ext cx="33832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92024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Email via Groq AI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2112264"/>
            <a:ext cx="54864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2423160"/>
            <a:ext cx="33832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42316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SPAM/CLEAN Label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280160" y="2615184"/>
            <a:ext cx="54864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2926080"/>
            <a:ext cx="33832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92608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to Google Sheets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80160" y="3118104"/>
            <a:ext cx="54864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3429000"/>
            <a:ext cx="3383280" cy="384048"/>
          </a:xfrm>
          <a:prstGeom prst="ellipse">
            <a:avLst/>
          </a:prstGeom>
          <a:solidFill>
            <a:srgbClr val="161B2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42900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Alert Notification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280160" y="3621024"/>
            <a:ext cx="54864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609344"/>
            <a:ext cx="2743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2926080" y="1609344"/>
            <a:ext cx="21031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754880" y="2112264"/>
            <a:ext cx="2743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2926080" y="2112264"/>
            <a:ext cx="21031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754880" y="2615184"/>
            <a:ext cx="2743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926080" y="2615184"/>
            <a:ext cx="21031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754880" y="3118104"/>
            <a:ext cx="2743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926080" y="3118104"/>
            <a:ext cx="21031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754880" y="3621024"/>
            <a:ext cx="2743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2926080" y="3621024"/>
            <a:ext cx="210312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3474720" y="4114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&lt;&lt;include&gt;&gt;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ER Diagram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286000" cy="292608"/>
          </a:xfrm>
          <a:prstGeom prst="rect">
            <a:avLst/>
          </a:prstGeom>
          <a:solidFill>
            <a:srgbClr val="1B4332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 user_id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82496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82496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gmail_address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75104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75104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spam_folder_name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67712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sheet_url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created_at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097280"/>
            <a:ext cx="2560320" cy="292608"/>
          </a:xfrm>
          <a:prstGeom prst="rect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09728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WORKFLOW_CONFIG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1389888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38988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 config_id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1682496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82496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  user_id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1975104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75104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poll_interval_sec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267712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267712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groq_model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2560320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560320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is_active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2852928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85292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updated_at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26080"/>
            <a:ext cx="2286000" cy="292608"/>
          </a:xfrm>
          <a:prstGeom prst="rect">
            <a:avLst/>
          </a:prstGeom>
          <a:solidFill>
            <a:srgbClr val="3B1F1F"/>
          </a:solidFill>
          <a:ln w="19050">
            <a:solidFill>
              <a:srgbClr val="3B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92608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EMAIL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218688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21868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 email_id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11296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511296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  user_id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803904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03904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message_id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096512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thread_id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389120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89120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sender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681728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8172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subject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974336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5266944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received_at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83280" y="2926080"/>
            <a:ext cx="2560320" cy="292608"/>
          </a:xfrm>
          <a:prstGeom prst="rect">
            <a:avLst/>
          </a:prstGeom>
          <a:solidFill>
            <a:srgbClr val="2D1B4E"/>
          </a:solidFill>
          <a:ln w="19050">
            <a:solidFill>
              <a:srgbClr val="2D1B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292608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83280" y="3218688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21868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 class_id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83280" y="3511296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3511296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  email_id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383280" y="3803904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0" y="3803904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result (SPAM/CLEAN)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83280" y="4096512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4096512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confidence_score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83280" y="4389120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4389120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reason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4681728"/>
            <a:ext cx="256032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0" y="468172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classified_at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83680" y="1920240"/>
            <a:ext cx="2286000" cy="292608"/>
          </a:xfrm>
          <a:prstGeom prst="rect">
            <a:avLst/>
          </a:prstGeom>
          <a:solidFill>
            <a:srgbClr val="1A3040"/>
          </a:solidFill>
          <a:ln w="19050">
            <a:solidFill>
              <a:srgbClr val="1A30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19202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ACTION_LOG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583680" y="2212848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0" y="221284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 log_id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83680" y="2505456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75120" y="2505456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  class_id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583680" y="2798064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0" y="2798064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action_type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83680" y="3090672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75120" y="3090672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label_applied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583680" y="3383280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75120" y="3383280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sheet_row_id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583680" y="3675888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3675888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alert_sent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583680" y="3968496"/>
            <a:ext cx="2286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75120" y="3968496"/>
            <a:ext cx="2194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timestamp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560320" y="1609344"/>
            <a:ext cx="822960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14600" y="146304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246120" y="146304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417320" y="2596896"/>
            <a:ext cx="0" cy="329184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463040" y="2542032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463040" y="285292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560320" y="3438144"/>
            <a:ext cx="82296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14600" y="329184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246120" y="329184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943600" y="3438144"/>
            <a:ext cx="658368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01968" y="2212848"/>
            <a:ext cx="0" cy="1225296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97880" y="3291840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629400" y="2075688"/>
            <a:ext cx="182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74320" y="4663440"/>
            <a:ext cx="164592" cy="1645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2920" y="4617720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 = Primary Key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468880" y="46634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97480" y="4617720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FK = Foreign Key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663440" y="4663440"/>
            <a:ext cx="164592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92040" y="4617720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1:N Relationship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858000" y="4663440"/>
            <a:ext cx="164592" cy="1645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86600" y="4617720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1:1 Relationship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Native app showing live spam stats and one-tap email review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65176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Fine-Tuning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custom spam classifier on personal email history for higher accuracy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5176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0972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187452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Multi-Platform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19456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to Outlook, Yahoo Mail, and other providers via IMAP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88920"/>
            <a:ext cx="265176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8892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88620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Weekly reports with spam trends, top senders, and threat categories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278892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788920"/>
            <a:ext cx="265176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78892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310896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383280" y="356616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&amp; Attachment Scan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88620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VirusTotal API to scan URLs and attachments in emails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78892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788920"/>
            <a:ext cx="2651760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78892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3108960"/>
            <a:ext cx="2651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217920" y="356616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Inbox Protection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88620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to protect shared business inboxes with role-based alerts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365760"/>
            <a:ext cx="1828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Spam Email Detection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Inbox Protection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514600"/>
            <a:ext cx="5486400" cy="274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9748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Nodes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269748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017520" y="32461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Services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69748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70B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Parameters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697480"/>
            <a:ext cx="1645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9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32461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611880"/>
            <a:ext cx="5486400" cy="274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 n8n  •  Groq LLaMA 3.3 70B  •  Gmail API  •  Google Sheets  •  Google Cloud OAuth2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3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4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5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6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7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8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9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0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1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2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3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4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5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6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7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8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19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0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1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2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3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4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5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6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7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8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29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ags/tag30.xml><?xml version="1.0" encoding="utf-8"?>
<p:tagLst xmlns:p="http://schemas.openxmlformats.org/presentationml/2006/main">
  <p:tag name="KSO_WM_DIAGRAM_VIRTUALLY_FRAME" val="{&quot;height&quot;:270,&quot;left&quot;:36,&quot;top&quot;:86.4,&quot;width&quot;:66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6189</Words>
  <Application>WPS Presentation</Application>
  <PresentationFormat>On-screen Show (16:9)</PresentationFormat>
  <Paragraphs>562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Email Detection System</dc:title>
  <dc:creator>PptxGenJS</dc:creator>
  <dc:subject>PptxGenJS Presentation</dc:subject>
  <cp:lastModifiedBy>Aryan</cp:lastModifiedBy>
  <cp:revision>2</cp:revision>
  <dcterms:created xsi:type="dcterms:W3CDTF">2026-05-15T04:24:00Z</dcterms:created>
  <dcterms:modified xsi:type="dcterms:W3CDTF">2026-05-15T07:20:12Z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B075270494104E98B5C27573EF86CF03_12</vt:lpwstr>
  </property>
  <property fmtid="{D5CDD505-2E9C-101B-9397-08002B2CF9AE}" pid="3" name="KSOProductBuildVer">
    <vt:lpwstr>2057-12.2.0.23202</vt:lpwstr>
  </property>
</Properties>
</file>